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87A2D"/>
                </a:solidFill>
                <a:latin typeface="Calibri"/>
              </a:defRPr>
            </a:pPr>
            <a:r>
              <a:t>KBLI 2025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Piano di Allineamento Normativo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00400"/>
            <a:ext cx="2743200" cy="254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PT Urban Jungle Bali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08080"/>
                </a:solidFill>
                <a:latin typeface="Calibri"/>
              </a:defRPr>
            </a:pPr>
            <a:r>
              <a:t>Febbraio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7A2D"/>
                </a:solidFill>
                <a:latin typeface="Calibri"/>
              </a:defRPr>
            </a:pPr>
            <a:r>
              <a:t>Bali Zero Advisory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Situazione Attuale PT Urban Jungle Bali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600"/>
              </a:spcAft>
              <a:defRPr sz="1800" b="1">
                <a:solidFill>
                  <a:srgbClr val="E87A2D"/>
                </a:solidFill>
                <a:latin typeface="Calibri"/>
              </a:defRPr>
            </a:pPr>
            <a:r>
              <a:t>KBLI Attivi in OSS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600" b="1">
                <a:solidFill>
                  <a:srgbClr val="E87A2D"/>
                </a:solidFill>
                <a:latin typeface="Calibri"/>
              </a:rPr>
              <a:t>●  68111</a:t>
            </a:r>
            <a:r>
              <a:rPr sz="1600">
                <a:solidFill>
                  <a:srgbClr val="FFFFFF"/>
                </a:solidFill>
                <a:latin typeface="Calibri"/>
              </a:rPr>
              <a:t>  -  Immobili di proprieta/locazione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600" b="1">
                <a:solidFill>
                  <a:srgbClr val="E87A2D"/>
                </a:solidFill>
                <a:latin typeface="Calibri"/>
              </a:rPr>
              <a:t>●  55193</a:t>
            </a:r>
            <a:r>
              <a:rPr sz="1600">
                <a:solidFill>
                  <a:srgbClr val="FFFFFF"/>
                </a:solidFill>
                <a:latin typeface="Calibri"/>
              </a:rPr>
              <a:t>  -  Villa (supporto)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600"/>
              </a:spcAft>
              <a:defRPr sz="1800" b="1">
                <a:solidFill>
                  <a:srgbClr val="808080"/>
                </a:solidFill>
                <a:latin typeface="Calibri"/>
              </a:defRPr>
            </a:pPr>
            <a:r>
              <a:t>KBLI in Atto Costitutivo (non in OSS)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600" b="1">
                <a:solidFill>
                  <a:srgbClr val="E87A2D"/>
                </a:solidFill>
                <a:latin typeface="Calibri"/>
              </a:rPr>
              <a:t>●  68200</a:t>
            </a:r>
            <a:r>
              <a:rPr sz="1600">
                <a:solidFill>
                  <a:srgbClr val="FFFFFF"/>
                </a:solidFill>
                <a:latin typeface="Calibri"/>
              </a:rPr>
              <a:t>  -  Immobili su base contrattuale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600" b="1">
                <a:solidFill>
                  <a:srgbClr val="E87A2D"/>
                </a:solidFill>
                <a:latin typeface="Calibri"/>
              </a:rPr>
              <a:t>●  70209</a:t>
            </a:r>
            <a:r>
              <a:rPr sz="1600">
                <a:solidFill>
                  <a:srgbClr val="FFFFFF"/>
                </a:solidFill>
                <a:latin typeface="Calibri"/>
              </a:rPr>
              <a:t>  -  Consulenza gestionale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0352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254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7A2D"/>
                </a:solidFill>
                <a:latin typeface="Calibri"/>
              </a:defRPr>
            </a:pPr>
            <a:r>
              <a:t>⚠  4 azioni necessarie per la compliance completa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Quadro Normativo 2025-2026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320040" cy="32004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A2D"/>
                </a:solidFill>
                <a:latin typeface="Calibri"/>
              </a:defRPr>
            </a:pPr>
            <a:r>
              <a:t>BPS Reg. 7/2025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KBLI 2025 (in vigore dal 18/12/2025)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965960"/>
            <a:ext cx="9144000" cy="635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606040"/>
            <a:ext cx="320040" cy="32004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A2D"/>
                </a:solidFill>
                <a:latin typeface="Calibri"/>
              </a:defRPr>
            </a:pPr>
            <a:r>
              <a:t>PP 28/2025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14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Licenze basate sul rischio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017520"/>
            <a:ext cx="9144000" cy="635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657600"/>
            <a:ext cx="320040" cy="32004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A2D"/>
                </a:solidFill>
                <a:latin typeface="Calibri"/>
              </a:defRPr>
            </a:pPr>
            <a:r>
              <a:t>BKPM Reg. 5/2025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Nuovo regime PT PMA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069080"/>
            <a:ext cx="9144000" cy="635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709159"/>
            <a:ext cx="320040" cy="32004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177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A2D"/>
                </a:solidFill>
                <a:latin typeface="Calibri"/>
              </a:defRPr>
            </a:pPr>
            <a:r>
              <a:t>Coretax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6177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Sistema fiscale integrato (da gennaio 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120639"/>
            <a:ext cx="9144000" cy="635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5486400"/>
            <a:ext cx="5486400" cy="731520"/>
          </a:xfrm>
          <a:prstGeom prst="roundRect">
            <a:avLst>
              <a:gd name="adj" fmla="val 5000"/>
            </a:avLst>
          </a:prstGeom>
          <a:solidFill>
            <a:srgbClr val="5A2515"/>
          </a:solidFill>
          <a:ln w="31750">
            <a:solidFill>
              <a:srgbClr val="E8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83A2D"/>
                </a:solidFill>
                <a:latin typeface="Calibri"/>
              </a:defRPr>
            </a:pPr>
            <a:r>
              <a:t>⏰  SCADENZA: 18 GIUGNO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KBLI 68111 → Si Suddivide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800" b="1">
                <a:solidFill>
                  <a:srgbClr val="E87A2D"/>
                </a:solidFill>
                <a:latin typeface="Calibri"/>
              </a:defRPr>
            </a:pPr>
            <a:r>
              <a:t>68111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Calibri"/>
              </a:defRPr>
            </a:pPr>
            <a:r>
              <a:t>(KBLI 2020)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2468880"/>
            <a:ext cx="914400" cy="457200"/>
          </a:xfrm>
          <a:prstGeom prst="rightArrow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E87A2D"/>
                </a:solidFill>
                <a:latin typeface="Calibri"/>
              </a:rPr>
              <a:t>68111</a:t>
            </a:r>
            <a:r>
              <a:rPr sz="1600">
                <a:solidFill>
                  <a:srgbClr val="FFFFFF"/>
                </a:solidFill>
                <a:latin typeface="Calibri"/>
              </a:rPr>
              <a:t>  →  Sviluppo immobiliare residenziale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83464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381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E87A2D"/>
                </a:solidFill>
                <a:latin typeface="Calibri"/>
              </a:rPr>
              <a:t>68112</a:t>
            </a:r>
            <a:r>
              <a:rPr sz="1600">
                <a:solidFill>
                  <a:srgbClr val="FFFFFF"/>
                </a:solidFill>
                <a:latin typeface="Calibri"/>
              </a:rPr>
              <a:t>  →  Affitto/gestione immobili propri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E87A2D"/>
                </a:solidFill>
                <a:latin typeface="Calibri"/>
              </a:defRPr>
            </a:pPr>
            <a:r>
              <a:t>⭐ PROBABILE 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297680"/>
            <a:ext cx="5943600" cy="109728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E87A2D"/>
                </a:solidFill>
                <a:latin typeface="Calibri"/>
              </a:rPr>
              <a:t>68129</a:t>
            </a:r>
            <a:r>
              <a:rPr sz="1600">
                <a:solidFill>
                  <a:srgbClr val="FFFFFF"/>
                </a:solidFill>
                <a:latin typeface="Calibri"/>
              </a:rPr>
              <a:t>  →  Immobili non residenziali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✓  Tutti aperti al 100% proprieta straniera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KBLI 68200 → Quattro Nuovi Codici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87A2D"/>
                </a:solidFill>
                <a:latin typeface="Calibri"/>
              </a:defRPr>
            </a:pPr>
            <a:r>
              <a:t>68210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Intermediazione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87A2D"/>
                </a:solidFill>
                <a:latin typeface="Calibri"/>
              </a:defRPr>
            </a:pPr>
            <a:r>
              <a:t>68291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Valutazione/Perizia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381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87A2D"/>
                </a:solidFill>
                <a:latin typeface="Calibri"/>
              </a:defRPr>
            </a:pPr>
            <a:r>
              <a:t>68292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Gestione Residenziale</a:t>
            </a:r>
          </a:p>
          <a:p>
            <a:pPr algn="ctr">
              <a:spcBef>
                <a:spcPts val="1200"/>
              </a:spcBef>
              <a:defRPr sz="1200" b="1">
                <a:solidFill>
                  <a:srgbClr val="E87A2D"/>
                </a:solidFill>
                <a:latin typeface="Calibri"/>
              </a:defRPr>
            </a:pPr>
            <a:r>
              <a:t>RACCOMANDATO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463040"/>
            <a:ext cx="2468880" cy="201168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800" b="1">
                <a:solidFill>
                  <a:srgbClr val="E87A2D"/>
                </a:solidFill>
                <a:latin typeface="Calibri"/>
              </a:defRPr>
            </a:pPr>
            <a:r>
              <a:t>68299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Altre Attivita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22860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200"/>
              </a:spcAft>
              <a:defRPr sz="2000" b="1">
                <a:solidFill>
                  <a:srgbClr val="E87A2D"/>
                </a:solidFill>
                <a:latin typeface="Calibri"/>
              </a:defRPr>
            </a:pPr>
            <a:r>
              <a:t>Dettagli Chiave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E87A2D"/>
                </a:solidFill>
                <a:latin typeface="Calibri"/>
              </a:rPr>
              <a:t>●  Rischio:</a:t>
            </a:r>
            <a:r>
              <a:rPr sz="1600">
                <a:solidFill>
                  <a:srgbClr val="FFFFFF"/>
                </a:solidFill>
                <a:latin typeface="Calibri"/>
              </a:rPr>
              <a:t> Medio-Alto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E87A2D"/>
                </a:solidFill>
                <a:latin typeface="Calibri"/>
              </a:rPr>
              <a:t>●  PMA:</a:t>
            </a:r>
            <a:r>
              <a:rPr sz="1600">
                <a:solidFill>
                  <a:srgbClr val="FFFFFF"/>
                </a:solidFill>
                <a:latin typeface="Calibri"/>
              </a:rPr>
              <a:t> 100% proprieta straniera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E87A2D"/>
                </a:solidFill>
                <a:latin typeface="Calibri"/>
              </a:rPr>
              <a:t>●  Verifica:</a:t>
            </a:r>
            <a:r>
              <a:rPr sz="1600">
                <a:solidFill>
                  <a:srgbClr val="FFFFFF"/>
                </a:solidFill>
                <a:latin typeface="Calibri"/>
              </a:rPr>
              <a:t> 3 giorni lavorativi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KBLI 55193 → Rinumerato a 55203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>
                <a:solidFill>
                  <a:srgbClr val="808080"/>
                </a:solidFill>
                <a:latin typeface="Calibri"/>
              </a:defRPr>
            </a:pPr>
            <a:r>
              <a:t>55193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Villa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808080"/>
                </a:solidFill>
                <a:latin typeface="Calibri"/>
              </a:defRPr>
            </a:pPr>
            <a:r>
              <a:t>KBLI 2020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29200" y="2286000"/>
            <a:ext cx="1371600" cy="640080"/>
          </a:xfrm>
          <a:prstGeom prst="rightArrow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8288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381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3600" b="1">
                <a:solidFill>
                  <a:srgbClr val="E87A2D"/>
                </a:solidFill>
                <a:latin typeface="Calibri"/>
              </a:defRPr>
            </a:pPr>
            <a:r>
              <a:t>55203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Villa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E87A2D"/>
                </a:solidFill>
                <a:latin typeface="Calibri"/>
              </a:defRPr>
            </a:pPr>
            <a:r>
              <a:t>KBLI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Stessa attivita, stessa classificazione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✓  Rischio: Medio-Basso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212080"/>
            <a:ext cx="9144000" cy="91440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254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E87A2D"/>
                </a:solidFill>
                <a:latin typeface="Calibri"/>
              </a:rPr>
              <a:t>AZIONE RICHIESTA:  </a:t>
            </a:r>
            <a:r>
              <a:rPr sz="1800">
                <a:solidFill>
                  <a:srgbClr val="FFFFFF"/>
                </a:solidFill>
                <a:latin typeface="Calibri"/>
              </a:rPr>
              <a:t>Incorporare nell'atto costitutivo (PP 28/2025)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Migrazione: Obbligatoria, Non Facoltativa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A2D"/>
                </a:solidFill>
                <a:latin typeface="Calibri"/>
              </a:defRPr>
            </a:pPr>
            <a:r>
              <a:t>"Ghost Codes" dopo il 18/06/2026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 codici KBLI 2020 non saranno piu riconosciuti dal sistema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A2D"/>
                </a:solidFill>
                <a:latin typeface="Calibri"/>
              </a:defRPr>
            </a:pPr>
            <a:r>
              <a:t>Coretax sincronizza OSS ↔ Fisco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Allineamento automatico tra sistema licenze e sistema fiscale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A2D"/>
                </a:solidFill>
                <a:latin typeface="Calibri"/>
              </a:defRPr>
            </a:pPr>
            <a:r>
              <a:t>OSS non ancora pronto (feb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Strategia: preparare ora, eseguire quando il sistema sara aggiornato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303520"/>
            <a:ext cx="9144000" cy="914400"/>
          </a:xfrm>
          <a:prstGeom prst="roundRect">
            <a:avLst>
              <a:gd name="adj" fmla="val 5000"/>
            </a:avLst>
          </a:prstGeom>
          <a:solidFill>
            <a:srgbClr val="5A2515"/>
          </a:solidFill>
          <a:ln w="31750">
            <a:solidFill>
              <a:srgbClr val="E8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>
                <a:solidFill>
                  <a:srgbClr val="E83A2D"/>
                </a:solidFill>
                <a:latin typeface="Calibri"/>
              </a:rPr>
              <a:t>⚠  </a:t>
            </a:r>
            <a:r>
              <a:rPr sz="2200" b="1">
                <a:solidFill>
                  <a:srgbClr val="E83A2D"/>
                </a:solidFill>
                <a:latin typeface="Calibri"/>
              </a:rPr>
              <a:t>NON forzare aggiornamenti prematuri in 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Modifica Statutaria e Assemblea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200" b="1">
                <a:solidFill>
                  <a:srgbClr val="E87A2D"/>
                </a:solidFill>
                <a:latin typeface="Calibri"/>
              </a:defRPr>
            </a:pPr>
            <a:r>
              <a:t>Passaggi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E87A2D"/>
                </a:solidFill>
                <a:latin typeface="Calibri"/>
              </a:rPr>
              <a:t>  1.  </a:t>
            </a:r>
            <a:r>
              <a:rPr sz="1800" b="1">
                <a:solidFill>
                  <a:srgbClr val="FFFFFF"/>
                </a:solidFill>
                <a:latin typeface="Calibri"/>
              </a:rPr>
              <a:t>Akta Perubahan</a:t>
            </a:r>
          </a:p>
          <a:p>
            <a:pPr>
              <a:spcAft>
                <a:spcPts val="800"/>
              </a:spcAft>
              <a:defRPr sz="1400">
                <a:solidFill>
                  <a:srgbClr val="808080"/>
                </a:solidFill>
                <a:latin typeface="Calibri"/>
              </a:defRPr>
            </a:pPr>
            <a:r>
              <a:t>       Atto notarile di modifica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E87A2D"/>
                </a:solidFill>
                <a:latin typeface="Calibri"/>
              </a:rPr>
              <a:t>  2.  </a:t>
            </a:r>
            <a:r>
              <a:rPr sz="1800" b="1">
                <a:solidFill>
                  <a:srgbClr val="FFFFFF"/>
                </a:solidFill>
                <a:latin typeface="Calibri"/>
              </a:rPr>
              <a:t>Approvazione KEMENKUMHAM</a:t>
            </a:r>
          </a:p>
          <a:p>
            <a:pPr>
              <a:spcAft>
                <a:spcPts val="800"/>
              </a:spcAft>
              <a:defRPr sz="1400">
                <a:solidFill>
                  <a:srgbClr val="808080"/>
                </a:solidFill>
                <a:latin typeface="Calibri"/>
              </a:defRPr>
            </a:pPr>
            <a:r>
              <a:t>       Tempo stimato: 30 giorni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E87A2D"/>
                </a:solidFill>
                <a:latin typeface="Calibri"/>
              </a:rPr>
              <a:t>  3.  </a:t>
            </a:r>
            <a:r>
              <a:rPr sz="1800" b="1">
                <a:solidFill>
                  <a:srgbClr val="FFFFFF"/>
                </a:solidFill>
                <a:latin typeface="Calibri"/>
              </a:rPr>
              <a:t>Aggiornamento OSS</a:t>
            </a:r>
          </a:p>
          <a:p>
            <a:pPr>
              <a:spcAft>
                <a:spcPts val="800"/>
              </a:spcAft>
              <a:defRPr sz="1400">
                <a:solidFill>
                  <a:srgbClr val="808080"/>
                </a:solidFill>
                <a:latin typeface="Calibri"/>
              </a:defRPr>
            </a:pPr>
            <a:r>
              <a:t>       Allineamento codici KBLI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200" b="1">
                <a:solidFill>
                  <a:srgbClr val="E87A2D"/>
                </a:solidFill>
                <a:latin typeface="Calibri"/>
              </a:defRPr>
            </a:pPr>
            <a:r>
              <a:t>AGMS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●  </a:t>
            </a:r>
            <a:r>
              <a:rPr sz="1500">
                <a:solidFill>
                  <a:srgbClr val="FFFFFF"/>
                </a:solidFill>
                <a:latin typeface="Calibri"/>
              </a:rPr>
              <a:t>Combinare bilancio + modifica AoA in unica assemblea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●  </a:t>
            </a:r>
            <a:r>
              <a:rPr sz="1500">
                <a:solidFill>
                  <a:srgbClr val="FFFFFF"/>
                </a:solidFill>
                <a:latin typeface="Calibri"/>
              </a:rPr>
              <a:t>Quorum: 2/3 capitale, 2/3 voti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●  </a:t>
            </a:r>
            <a:r>
              <a:rPr sz="1500">
                <a:solidFill>
                  <a:srgbClr val="FFFFFF"/>
                </a:solidFill>
                <a:latin typeface="Calibri"/>
              </a:rPr>
              <a:t>Alternativa: Circolare dei Soci (art. 91 UU PT)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●  </a:t>
            </a:r>
            <a:r>
              <a:rPr sz="1500">
                <a:solidFill>
                  <a:srgbClr val="FFFFFF"/>
                </a:solidFill>
                <a:latin typeface="Calibri"/>
              </a:rPr>
              <a:t>Scadenza: entro giugno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LKPM Q3 2025 - Verifica e Regolarizzazione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463040"/>
            <a:ext cx="914400" cy="91440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Scadenza originaria Q3: 15 ottobre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Il report risulta incompleto o da revisionare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A2D"/>
                </a:solidFill>
                <a:latin typeface="Calibri"/>
              </a:defRPr>
            </a:pPr>
            <a:r>
              <a:t>Sistema Sanzionatorio Graduato: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7A2D"/>
                </a:solidFill>
                <a:latin typeface="Calibri"/>
              </a:defRPr>
            </a:pPr>
            <a:r>
              <a:t>▸  1 trimestre mancato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Calibri"/>
              </a:defRPr>
            </a:pPr>
            <a:r>
              <a:t>Registrato dal sistema, nessuna sanzione automatica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7A2D"/>
                </a:solidFill>
                <a:latin typeface="Calibri"/>
              </a:defRPr>
            </a:pPr>
            <a:r>
              <a:t>▸  2 trimestri consecutivi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Calibri"/>
              </a:defRPr>
            </a:pPr>
            <a:r>
              <a:t>Avvisi scritti (Surat Peringatan)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7A2D"/>
                </a:solidFill>
                <a:latin typeface="Calibri"/>
              </a:defRPr>
            </a:pPr>
            <a:r>
              <a:t>▸  Dopo ripetuti avvisi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09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Calibri"/>
              </a:defRPr>
            </a:pPr>
            <a:r>
              <a:t>Sospensione temporanea (30 gg per correggere)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7432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E87A2D"/>
                </a:solidFill>
                <a:latin typeface="Calibri"/>
              </a:defRPr>
            </a:pPr>
            <a:r>
              <a:t>Da Sapere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>
                <a:solidFill>
                  <a:srgbClr val="E87A2D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Il portale OSS chiude la finestra dopo la scadenza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>
                <a:solidFill>
                  <a:srgbClr val="E87A2D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I dati mancanti si accumulano nel trimestre successivo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>
                <a:solidFill>
                  <a:srgbClr val="E87A2D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PT PMA monitorate con piu attenzione di PT locali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400">
                <a:solidFill>
                  <a:srgbClr val="E87A2D"/>
                </a:solidFill>
                <a:latin typeface="Calibri"/>
              </a:rPr>
              <a:t>●  </a:t>
            </a:r>
            <a:r>
              <a:rPr sz="1400">
                <a:solidFill>
                  <a:srgbClr val="FFFFFF"/>
                </a:solidFill>
                <a:latin typeface="Calibri"/>
              </a:rPr>
              <a:t>La compliance LKPM incide sul profilo di rischio futuro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254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87A2D"/>
                </a:solidFill>
                <a:latin typeface="Calibri"/>
              </a:rPr>
              <a:t>RACCOMANDAZIONE:  </a:t>
            </a:r>
            <a:r>
              <a:rPr sz="1600">
                <a:solidFill>
                  <a:srgbClr val="FFFFFF"/>
                </a:solidFill>
                <a:latin typeface="Calibri"/>
              </a:rPr>
              <a:t>Verificare stato Q3 nel sistema, regolarizzare, assicurare Q4 e Q1 in ordine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Compliance OTA - Deadline 31 Marzo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Circolare Kemenparekraf B/SD/80/II.01/D.3.3/2025 (8 dicembre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254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E87A2D"/>
                </a:solidFill>
                <a:latin typeface="Calibri"/>
              </a:defRPr>
            </a:pPr>
            <a:r>
              <a:t>Requisiti per listing su OTA (Airbnb, Booking.com, Agoda):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✓  </a:t>
            </a:r>
            <a:r>
              <a:rPr sz="1500">
                <a:solidFill>
                  <a:srgbClr val="FFFFFF"/>
                </a:solidFill>
                <a:latin typeface="Calibri"/>
              </a:rPr>
              <a:t>NIB (Nomor Induk Berusaha) valido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✓  </a:t>
            </a:r>
            <a:r>
              <a:rPr sz="1500">
                <a:solidFill>
                  <a:srgbClr val="FFFFFF"/>
                </a:solidFill>
                <a:latin typeface="Calibri"/>
              </a:rPr>
              <a:t>KBLI appropriato (es. 55203 Villa, 68112 gestione immobiliare)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✓  </a:t>
            </a:r>
            <a:r>
              <a:rPr sz="1500">
                <a:solidFill>
                  <a:srgbClr val="FFFFFF"/>
                </a:solidFill>
                <a:latin typeface="Calibri"/>
              </a:rPr>
              <a:t>Licenze turistiche complete e aggiornate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>
                <a:solidFill>
                  <a:srgbClr val="E87A2D"/>
                </a:solidFill>
                <a:latin typeface="Calibri"/>
              </a:rPr>
              <a:t>✓  </a:t>
            </a:r>
            <a:r>
              <a:rPr sz="1500">
                <a:solidFill>
                  <a:srgbClr val="FFFFFF"/>
                </a:solidFill>
                <a:latin typeface="Calibri"/>
              </a:rPr>
              <a:t>Label "Terdaftar dan Berizin" visibile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5A2515"/>
          </a:solidFill>
          <a:ln w="38100">
            <a:solidFill>
              <a:srgbClr val="E8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E83A2D"/>
                </a:solidFill>
                <a:latin typeface="Calibri"/>
              </a:rPr>
              <a:t>⚠  DEADLINE CRITICA: 31 MARZO 2026  </a:t>
            </a:r>
          </a:p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Proprieta non conformi = delisting automatico dalle piattaforme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A2D"/>
                </a:solidFill>
                <a:latin typeface="Calibri"/>
              </a:defRPr>
            </a:pPr>
            <a:r>
              <a:t>Enforcement Governativo Bali (Governatore Koster):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6344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E87A2D"/>
                </a:solidFill>
                <a:latin typeface="Calibri"/>
              </a:defRPr>
            </a:pPr>
            <a:r>
              <a:t>2,000+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Proprieta a rischio delisting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66344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E87A2D"/>
                </a:solidFill>
                <a:latin typeface="Calibri"/>
              </a:defRPr>
            </a:pPr>
            <a:r>
              <a:t>Focus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Zoning, PBG/SLF, registrazione fiscale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66344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E87A2D"/>
                </a:solidFill>
                <a:latin typeface="Calibri"/>
              </a:defRPr>
            </a:pPr>
            <a:r>
              <a:t>Crackdown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Coordinato Provincia-Kemenparekraf-OTA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76072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E87A2D"/>
                </a:solidFill>
                <a:latin typeface="Calibri"/>
              </a:rPr>
              <a:t>IMPATTO PT URBAN JUNGLE:  </a:t>
            </a:r>
            <a:r>
              <a:rPr sz="1500">
                <a:solidFill>
                  <a:srgbClr val="FFFFFF"/>
                </a:solidFill>
                <a:latin typeface="Calibri"/>
              </a:rPr>
              <a:t>Verificare tutte le proprieta nel portfolio abbiano NIB + KBLI + licenze prima del 31/03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Roadmap di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7A2D"/>
                </a:solidFill>
                <a:latin typeface="Calibri"/>
              </a:defRPr>
            </a:pPr>
            <a:r>
              <a:t>FEB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17320"/>
            <a:ext cx="5029200" cy="3200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KBLI Audit &amp;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1732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5A2515"/>
          </a:solidFill>
          <a:ln w="127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7A2D"/>
                </a:solidFill>
                <a:latin typeface="Calibri"/>
              </a:defRPr>
            </a:pPr>
            <a:r>
              <a:t>CRITICA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801368"/>
            <a:ext cx="5760720" cy="320040"/>
          </a:xfrm>
          <a:prstGeom prst="rect">
            <a:avLst/>
          </a:prstGeom>
          <a:solidFill>
            <a:srgbClr val="E8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Verifica compliance OTA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801368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5A2515"/>
          </a:solidFill>
          <a:ln w="12700">
            <a:solidFill>
              <a:srgbClr val="E8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83A2D"/>
                </a:solidFill>
                <a:latin typeface="Calibri"/>
              </a:defRPr>
            </a:pPr>
            <a:r>
              <a:t>CRITICA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94560"/>
            <a:ext cx="25400" cy="18288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7A2D"/>
                </a:solidFill>
                <a:latin typeface="Calibri"/>
              </a:defRPr>
            </a:pPr>
            <a:r>
              <a:t>MAR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423160"/>
            <a:ext cx="6858000" cy="320040"/>
          </a:xfrm>
          <a:prstGeom prst="rect">
            <a:avLst/>
          </a:prstGeom>
          <a:solidFill>
            <a:srgbClr val="E8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OTA Compliance (31/03)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42316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E83A2D"/>
          </a:solidFill>
          <a:ln w="12700">
            <a:solidFill>
              <a:srgbClr val="E8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DEADLINE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807208"/>
            <a:ext cx="5760720" cy="3200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Preparazione AGMS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191256"/>
            <a:ext cx="6492240" cy="3200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Modifica Atto Costitutivo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200400"/>
            <a:ext cx="25400" cy="18288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7A2D"/>
                </a:solidFill>
                <a:latin typeface="Calibri"/>
              </a:defRPr>
            </a:pPr>
            <a:r>
              <a:t>APR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429000"/>
            <a:ext cx="5029200" cy="3200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LKPM Q1 (15/04)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813048"/>
            <a:ext cx="5760720" cy="3200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SPT Badan (30/04)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206240"/>
            <a:ext cx="25400" cy="18288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38912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7A2D"/>
                </a:solidFill>
                <a:latin typeface="Calibri"/>
              </a:defRPr>
            </a:pPr>
            <a:r>
              <a:t>MAG-GIU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4434840"/>
            <a:ext cx="5029200" cy="3200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AGMS + Aggiornamento 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12080"/>
            <a:ext cx="25400" cy="18288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83A2D"/>
                </a:solidFill>
                <a:latin typeface="Calibri"/>
              </a:defRPr>
            </a:pPr>
            <a:r>
              <a:t>18 GIU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5440680"/>
            <a:ext cx="6858000" cy="320040"/>
          </a:xfrm>
          <a:prstGeom prst="rect">
            <a:avLst/>
          </a:prstGeom>
          <a:solidFill>
            <a:srgbClr val="E8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DEADLINE KBLI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544068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E83A2D"/>
          </a:solidFill>
          <a:ln w="12700">
            <a:solidFill>
              <a:srgbClr val="E8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DEADLINE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Calendario Scadenze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4069080" cy="5486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Scadenza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371600"/>
            <a:ext cx="3154680" cy="5486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371600"/>
            <a:ext cx="3154680" cy="54864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4069080" cy="640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Compliance OTA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965960"/>
            <a:ext cx="3154680" cy="640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31 marzo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65960"/>
            <a:ext cx="3154680" cy="640080"/>
          </a:xfrm>
          <a:prstGeom prst="rect">
            <a:avLst/>
          </a:prstGeom>
          <a:solidFill>
            <a:srgbClr val="E8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DEADLINE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40690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LKPM Q1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743200"/>
            <a:ext cx="31546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15 aprile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31546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7A2D"/>
                </a:solidFill>
                <a:latin typeface="Calibri"/>
              </a:defRPr>
            </a:pPr>
            <a:r>
              <a:t>Da preparare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20440"/>
            <a:ext cx="4069080" cy="640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SPT Tahunan Badan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520440"/>
            <a:ext cx="3154680" cy="640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30 aprile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520440"/>
            <a:ext cx="3154680" cy="640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7A2D"/>
                </a:solidFill>
                <a:latin typeface="Calibri"/>
              </a:defRPr>
            </a:pPr>
            <a:r>
              <a:t>Da preparare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97680"/>
            <a:ext cx="40690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AGMS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4297680"/>
            <a:ext cx="31546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Entro 30 giugno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297680"/>
            <a:ext cx="31546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7A2D"/>
                </a:solidFill>
                <a:latin typeface="Calibri"/>
              </a:defRPr>
            </a:pPr>
            <a:r>
              <a:t>Da programmare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74920"/>
            <a:ext cx="4069080" cy="640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KBLI 2025 Compliance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5074920"/>
            <a:ext cx="3154680" cy="64008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18 giugno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5074920"/>
            <a:ext cx="3154680" cy="640080"/>
          </a:xfrm>
          <a:prstGeom prst="rect">
            <a:avLst/>
          </a:prstGeom>
          <a:solidFill>
            <a:srgbClr val="E8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DEADLINE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852160"/>
            <a:ext cx="40690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KEMENKUMHAM filing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5852160"/>
            <a:ext cx="31546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30 gg dopo AGMS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5852160"/>
            <a:ext cx="3154680" cy="64008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E87A2D"/>
                </a:solidFill>
                <a:latin typeface="Calibri"/>
              </a:defRPr>
            </a:pPr>
            <a:r>
              <a:t>Da eseguire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2743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A2D"/>
                </a:solidFill>
                <a:latin typeface="Calibri"/>
              </a:defRPr>
            </a:pPr>
            <a:r>
              <a:t>Prossimi Passi Immediati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2286000" cy="381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731520" cy="73152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371600"/>
            <a:ext cx="9418320" cy="100584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2200" b="1">
                <a:solidFill>
                  <a:srgbClr val="E87A2D"/>
                </a:solidFill>
                <a:latin typeface="Calibri"/>
              </a:defRPr>
            </a:pPr>
            <a:r>
              <a:t>Verifica Compliance OTA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NIB + KBLI + licenze per tutte le proprieta su Airbnb/Booking (deadline 31/03/2026)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731520" cy="73152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834640"/>
            <a:ext cx="9418320" cy="100584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2200" b="1">
                <a:solidFill>
                  <a:srgbClr val="E87A2D"/>
                </a:solidFill>
                <a:latin typeface="Calibri"/>
              </a:defRPr>
            </a:pPr>
            <a:r>
              <a:t>KBLI Audit &amp; Mapping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Analisi completa codici attuali vs KBLI 2025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434840"/>
            <a:ext cx="731520" cy="731520"/>
          </a:xfrm>
          <a:prstGeom prst="ellipse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297680"/>
            <a:ext cx="9418320" cy="1005840"/>
          </a:xfrm>
          <a:prstGeom prst="roundRect">
            <a:avLst>
              <a:gd name="adj" fmla="val 5000"/>
            </a:avLst>
          </a:prstGeom>
          <a:solidFill>
            <a:srgbClr val="3A3A3A"/>
          </a:solidFill>
          <a:ln w="1905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2200" b="1">
                <a:solidFill>
                  <a:srgbClr val="E87A2D"/>
                </a:solidFill>
                <a:latin typeface="Calibri"/>
              </a:defRPr>
            </a:pPr>
            <a:r>
              <a:t>Preventivo Dettagliato</a:t>
            </a:r>
          </a:p>
          <a:p>
            <a:pPr algn="l">
              <a:defRPr sz="1600">
                <a:solidFill>
                  <a:srgbClr val="FFFFFF"/>
                </a:solidFill>
                <a:latin typeface="Calibri"/>
              </a:defRPr>
            </a:pPr>
            <a:r>
              <a:t>Costi per pacchetto compliance completo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669280"/>
            <a:ext cx="7315200" cy="640080"/>
          </a:xfrm>
          <a:prstGeom prst="roundRect">
            <a:avLst>
              <a:gd name="adj" fmla="val 5000"/>
            </a:avLst>
          </a:prstGeom>
          <a:solidFill>
            <a:srgbClr val="4A3520"/>
          </a:solidFill>
          <a:ln w="12700">
            <a:solidFill>
              <a:srgbClr val="E8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87A2D"/>
                </a:solidFill>
                <a:latin typeface="Calibri"/>
              </a:defRPr>
            </a:pPr>
            <a:r>
              <a:t>Bali Zero Advisory  —  Compliance &amp; Regulatory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13716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A2D"/>
                </a:solidFill>
                <a:latin typeface="Calibri"/>
              </a:defRPr>
            </a:pPr>
            <a:r>
              <a:t>Grazie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Bali Zero Advisory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80"/>
                </a:solidFill>
                <a:latin typeface="Calibri"/>
              </a:defRPr>
            </a:pPr>
            <a:r>
              <a:t>Compliance. Strategia. Risultati.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8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